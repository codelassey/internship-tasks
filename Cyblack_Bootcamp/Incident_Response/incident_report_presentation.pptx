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BM Plex Sans"/>
      <p:regular r:id="rId15"/>
      <p:bold r:id="rId16"/>
      <p:italic r:id="rId17"/>
      <p:boldItalic r:id="rId18"/>
    </p:embeddedFont>
    <p:embeddedFont>
      <p:font typeface="Sora SemiBold"/>
      <p:regular r:id="rId19"/>
      <p:bold r:id="rId20"/>
    </p:embeddedFont>
    <p:embeddedFont>
      <p:font typeface="IBM Plex Sans Medium"/>
      <p:regular r:id="rId21"/>
      <p:bold r:id="rId22"/>
      <p:italic r:id="rId23"/>
      <p:boldItalic r:id="rId24"/>
    </p:embeddedFont>
    <p:embeddedFont>
      <p:font typeface="Sora Light"/>
      <p:regular r:id="rId25"/>
      <p:bold r:id="rId26"/>
    </p:embeddedFont>
    <p:embeddedFont>
      <p:font typeface="Sora ExtraLight"/>
      <p:regular r:id="rId27"/>
      <p:bold r:id="rId28"/>
    </p:embeddedFont>
    <p:embeddedFont>
      <p:font typeface="Sora"/>
      <p:regular r:id="rId29"/>
      <p:bold r:id="rId30"/>
    </p:embeddedFont>
    <p:embeddedFont>
      <p:font typeface="Sora Medium"/>
      <p:regular r:id="rId31"/>
      <p:bold r:id="rId32"/>
    </p:embeddedFont>
    <p:embeddedFont>
      <p:font typeface="IBM Plex Sans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Medium-regular.fntdata"/><Relationship Id="rId30" Type="http://schemas.openxmlformats.org/officeDocument/2006/relationships/font" Target="fonts/Sora-bold.fntdata"/><Relationship Id="rId33" Type="http://schemas.openxmlformats.org/officeDocument/2006/relationships/font" Target="fonts/IBMPlexSansSemiBold-regular.fntdata"/><Relationship Id="rId32" Type="http://schemas.openxmlformats.org/officeDocument/2006/relationships/font" Target="fonts/SoraMedium-bold.fntdata"/><Relationship Id="rId35" Type="http://schemas.openxmlformats.org/officeDocument/2006/relationships/font" Target="fonts/IBMPlexSansSemiBold-italic.fntdata"/><Relationship Id="rId34" Type="http://schemas.openxmlformats.org/officeDocument/2006/relationships/font" Target="fonts/IBMPlexSansSemiBold-bold.fntdata"/><Relationship Id="rId36" Type="http://schemas.openxmlformats.org/officeDocument/2006/relationships/font" Target="fonts/IBMPlexSansSemiBold-boldItalic.fntdata"/><Relationship Id="rId20" Type="http://schemas.openxmlformats.org/officeDocument/2006/relationships/font" Target="fonts/SoraSemiBold-bold.fntdata"/><Relationship Id="rId22" Type="http://schemas.openxmlformats.org/officeDocument/2006/relationships/font" Target="fonts/IBMPlexSansMedium-bold.fntdata"/><Relationship Id="rId21" Type="http://schemas.openxmlformats.org/officeDocument/2006/relationships/font" Target="fonts/IBMPlexSansMedium-regular.fntdata"/><Relationship Id="rId24" Type="http://schemas.openxmlformats.org/officeDocument/2006/relationships/font" Target="fonts/IBMPlexSansMedium-boldItalic.fntdata"/><Relationship Id="rId23" Type="http://schemas.openxmlformats.org/officeDocument/2006/relationships/font" Target="fonts/IBMPlexSansMedium-italic.fntdata"/><Relationship Id="rId26" Type="http://schemas.openxmlformats.org/officeDocument/2006/relationships/font" Target="fonts/SoraLight-bold.fntdata"/><Relationship Id="rId25" Type="http://schemas.openxmlformats.org/officeDocument/2006/relationships/font" Target="fonts/SoraLight-regular.fntdata"/><Relationship Id="rId28" Type="http://schemas.openxmlformats.org/officeDocument/2006/relationships/font" Target="fonts/SoraExtraLight-bold.fntdata"/><Relationship Id="rId27" Type="http://schemas.openxmlformats.org/officeDocument/2006/relationships/font" Target="fonts/SoraExtraLight-regular.fntdata"/><Relationship Id="rId29" Type="http://schemas.openxmlformats.org/officeDocument/2006/relationships/font" Target="fonts/Sora-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BMPlexSans-regular.fntdata"/><Relationship Id="rId14" Type="http://schemas.openxmlformats.org/officeDocument/2006/relationships/slide" Target="slides/slide9.xml"/><Relationship Id="rId17" Type="http://schemas.openxmlformats.org/officeDocument/2006/relationships/font" Target="fonts/IBMPlexSans-italic.fntdata"/><Relationship Id="rId16" Type="http://schemas.openxmlformats.org/officeDocument/2006/relationships/font" Target="fonts/IBMPlexSans-bold.fntdata"/><Relationship Id="rId19" Type="http://schemas.openxmlformats.org/officeDocument/2006/relationships/font" Target="fonts/SoraSemiBold-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6ae3feb7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6ae3feb7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6ae3feb778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6ae3feb778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6ae3feb778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6ae3feb778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6ae3feb778_0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6ae3feb778_0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6ae3feb778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6ae3feb778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6ae3feb778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6ae3feb778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6ae3feb778_0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6ae3feb778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ae3feb778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ae3feb778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6ae3feb778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6ae3feb778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228600" y="228600"/>
            <a:ext cx="2164500" cy="128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Prince Kwesi Lassey</a:t>
            </a:r>
            <a:endParaRPr>
              <a:solidFill>
                <a:srgbClr val="E3DFD6"/>
              </a:solidFill>
              <a:latin typeface="Sora"/>
              <a:ea typeface="Sora"/>
              <a:cs typeface="Sora"/>
              <a:sym typeface="Sora"/>
            </a:endParaRPr>
          </a:p>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Okeke Anthonia Chiamaka</a:t>
            </a:r>
            <a:endParaRPr>
              <a:solidFill>
                <a:srgbClr val="E3DFD6"/>
              </a:solidFill>
              <a:latin typeface="Sora"/>
              <a:ea typeface="Sora"/>
              <a:cs typeface="Sora"/>
              <a:sym typeface="Sora"/>
            </a:endParaRPr>
          </a:p>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Araga Joachim Omeiza</a:t>
            </a:r>
            <a:endParaRPr>
              <a:solidFill>
                <a:srgbClr val="E3DFD6"/>
              </a:solidFill>
              <a:latin typeface="Sora"/>
              <a:ea typeface="Sora"/>
              <a:cs typeface="Sora"/>
              <a:sym typeface="Sora"/>
            </a:endParaRPr>
          </a:p>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Enioluwa Oyedemi</a:t>
            </a:r>
            <a:endParaRPr>
              <a:solidFill>
                <a:srgbClr val="E3DFD6"/>
              </a:solidFill>
              <a:latin typeface="Sora"/>
              <a:ea typeface="Sora"/>
              <a:cs typeface="Sora"/>
              <a:sym typeface="Sora"/>
            </a:endParaRPr>
          </a:p>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Cynthia Chinemerem Ike-Uchendu</a:t>
            </a:r>
            <a:endParaRPr>
              <a:solidFill>
                <a:srgbClr val="E3DFD6"/>
              </a:solidFill>
              <a:latin typeface="Sora"/>
              <a:ea typeface="Sora"/>
              <a:cs typeface="Sora"/>
              <a:sym typeface="Sora"/>
            </a:endParaRPr>
          </a:p>
          <a:p>
            <a:pPr indent="0" lvl="0" marL="0" rtl="0" algn="l">
              <a:spcBef>
                <a:spcPts val="0"/>
              </a:spcBef>
              <a:spcAft>
                <a:spcPts val="0"/>
              </a:spcAft>
              <a:buClr>
                <a:srgbClr val="000000"/>
              </a:buClr>
              <a:buFont typeface="Arial"/>
              <a:buNone/>
            </a:pPr>
            <a:r>
              <a:rPr lang="en">
                <a:solidFill>
                  <a:srgbClr val="E3DFD6"/>
                </a:solidFill>
                <a:latin typeface="Sora"/>
                <a:ea typeface="Sora"/>
                <a:cs typeface="Sora"/>
                <a:sym typeface="Sora"/>
              </a:rPr>
              <a:t>Daniel Afolabi</a:t>
            </a:r>
            <a:endParaRPr>
              <a:solidFill>
                <a:srgbClr val="E3DFD6"/>
              </a:solidFill>
              <a:latin typeface="Sora"/>
              <a:ea typeface="Sora"/>
              <a:cs typeface="Sora"/>
              <a:sym typeface="Sora"/>
            </a:endParaRPr>
          </a:p>
        </p:txBody>
      </p:sp>
      <p:sp>
        <p:nvSpPr>
          <p:cNvPr id="889" name="Google Shape;889;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Incident Report</a:t>
            </a:r>
            <a:endParaRPr>
              <a:solidFill>
                <a:schemeClr val="dk2"/>
              </a:solidFill>
            </a:endParaRPr>
          </a:p>
          <a:p>
            <a:pPr indent="0" lvl="0" marL="0" rtl="0" algn="l">
              <a:spcBef>
                <a:spcPts val="0"/>
              </a:spcBef>
              <a:spcAft>
                <a:spcPts val="0"/>
              </a:spcAft>
              <a:buNone/>
            </a:pPr>
            <a:r>
              <a:rPr lang="en">
                <a:solidFill>
                  <a:schemeClr val="dk2"/>
                </a:solidFill>
              </a:rPr>
              <a:t>Presentation</a:t>
            </a:r>
            <a:endParaRPr>
              <a:solidFill>
                <a:schemeClr val="dk2"/>
              </a:solidFill>
            </a:endParaRPr>
          </a:p>
        </p:txBody>
      </p:sp>
      <p:sp>
        <p:nvSpPr>
          <p:cNvPr id="890" name="Google Shape;890;p51"/>
          <p:cNvSpPr txBox="1"/>
          <p:nvPr>
            <p:ph idx="1" type="subTitle"/>
          </p:nvPr>
        </p:nvSpPr>
        <p:spPr>
          <a:xfrm>
            <a:off x="228600" y="417312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latin typeface="Sora"/>
                <a:ea typeface="Sora"/>
                <a:cs typeface="Sora"/>
                <a:sym typeface="Sora"/>
              </a:rPr>
              <a:t>Cyblack Group 1</a:t>
            </a:r>
            <a:endParaRPr sz="1900">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2"/>
          <p:cNvSpPr txBox="1"/>
          <p:nvPr>
            <p:ph type="title"/>
          </p:nvPr>
        </p:nvSpPr>
        <p:spPr>
          <a:xfrm>
            <a:off x="330075" y="524400"/>
            <a:ext cx="4390500" cy="16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Scenario</a:t>
            </a:r>
            <a:endParaRPr/>
          </a:p>
        </p:txBody>
      </p:sp>
      <p:sp>
        <p:nvSpPr>
          <p:cNvPr id="896" name="Google Shape;896;p52"/>
          <p:cNvSpPr txBox="1"/>
          <p:nvPr>
            <p:ph idx="8" type="subTitle"/>
          </p:nvPr>
        </p:nvSpPr>
        <p:spPr>
          <a:xfrm>
            <a:off x="476175" y="1704675"/>
            <a:ext cx="7470600" cy="22320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900">
                <a:latin typeface="Sora Light"/>
                <a:ea typeface="Sora Light"/>
                <a:cs typeface="Sora Light"/>
                <a:sym typeface="Sora Light"/>
              </a:rPr>
              <a:t>As part of a cybersecurity response team, </a:t>
            </a:r>
            <a:endParaRPr sz="1900">
              <a:latin typeface="Sora Light"/>
              <a:ea typeface="Sora Light"/>
              <a:cs typeface="Sora Light"/>
              <a:sym typeface="Sora Light"/>
            </a:endParaRPr>
          </a:p>
          <a:p>
            <a:pPr indent="0" lvl="0" marL="0" rtl="0" algn="l">
              <a:lnSpc>
                <a:spcPct val="115000"/>
              </a:lnSpc>
              <a:spcBef>
                <a:spcPts val="0"/>
              </a:spcBef>
              <a:spcAft>
                <a:spcPts val="0"/>
              </a:spcAft>
              <a:buNone/>
            </a:pPr>
            <a:r>
              <a:rPr lang="en" sz="1900">
                <a:latin typeface="Sora Light"/>
                <a:ea typeface="Sora Light"/>
                <a:cs typeface="Sora Light"/>
                <a:sym typeface="Sora Light"/>
              </a:rPr>
              <a:t>a company employee, Jake, reported that files in his folder have been altered without his knowledge. The job is to follow the Incident Response Lifecycle to investigate and respond to the potential security incident.</a:t>
            </a:r>
            <a:endParaRPr sz="1900">
              <a:latin typeface="Sora Light"/>
              <a:ea typeface="Sora Light"/>
              <a:cs typeface="Sora Light"/>
              <a:sym typeface="Sora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53"/>
          <p:cNvSpPr/>
          <p:nvPr/>
        </p:nvSpPr>
        <p:spPr>
          <a:xfrm flipH="1" rot="10800000">
            <a:off x="3820800" y="1884613"/>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2" name="Google Shape;902;p53"/>
          <p:cNvSpPr/>
          <p:nvPr/>
        </p:nvSpPr>
        <p:spPr>
          <a:xfrm flipH="1" rot="10800000">
            <a:off x="3777500" y="262418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3" name="Google Shape;903;p53"/>
          <p:cNvSpPr/>
          <p:nvPr/>
        </p:nvSpPr>
        <p:spPr>
          <a:xfrm>
            <a:off x="228600" y="1145200"/>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04" name="Google Shape;904;p53"/>
          <p:cNvSpPr/>
          <p:nvPr/>
        </p:nvSpPr>
        <p:spPr>
          <a:xfrm>
            <a:off x="228600" y="1938676"/>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05" name="Google Shape;905;p53"/>
          <p:cNvSpPr/>
          <p:nvPr/>
        </p:nvSpPr>
        <p:spPr>
          <a:xfrm>
            <a:off x="228600" y="2732152"/>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06" name="Google Shape;906;p53"/>
          <p:cNvSpPr/>
          <p:nvPr/>
        </p:nvSpPr>
        <p:spPr>
          <a:xfrm flipH="1" rot="10800000">
            <a:off x="3820800" y="110168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lt1"/>
              </a:solidFill>
              <a:latin typeface="Sora"/>
              <a:ea typeface="Sora"/>
              <a:cs typeface="Sora"/>
              <a:sym typeface="Sora"/>
            </a:endParaRPr>
          </a:p>
        </p:txBody>
      </p:sp>
      <p:sp>
        <p:nvSpPr>
          <p:cNvPr id="907" name="Google Shape;907;p53"/>
          <p:cNvSpPr txBox="1"/>
          <p:nvPr>
            <p:ph idx="3" type="title"/>
          </p:nvPr>
        </p:nvSpPr>
        <p:spPr>
          <a:xfrm>
            <a:off x="1161746" y="1145200"/>
            <a:ext cx="50991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A login from Jake’s IP; 192.168.1.12 at 1:03:12 on 2025-04-22 which was off working hours.</a:t>
            </a:r>
            <a:endParaRPr sz="1200"/>
          </a:p>
        </p:txBody>
      </p:sp>
      <p:sp>
        <p:nvSpPr>
          <p:cNvPr id="908" name="Google Shape;908;p53"/>
          <p:cNvSpPr txBox="1"/>
          <p:nvPr>
            <p:ph idx="4" type="title"/>
          </p:nvPr>
        </p:nvSpPr>
        <p:spPr>
          <a:xfrm>
            <a:off x="1161746" y="1954175"/>
            <a:ext cx="54150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Login from unfamiliar IP 198.51.100.7 at 2025-04-22 02:14:03, unlike Jake’s likely IP 192.168.1.12. (Private IP) and without a logout.</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t/>
            </a:r>
            <a:endParaRPr sz="1200"/>
          </a:p>
        </p:txBody>
      </p:sp>
      <p:sp>
        <p:nvSpPr>
          <p:cNvPr id="909" name="Google Shape;909;p53"/>
          <p:cNvSpPr txBox="1"/>
          <p:nvPr>
            <p:ph idx="5" type="title"/>
          </p:nvPr>
        </p:nvSpPr>
        <p:spPr>
          <a:xfrm>
            <a:off x="1161746" y="2763150"/>
            <a:ext cx="56412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Jake logged in at 08:42:21 on 2025-04-22</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t/>
            </a:r>
            <a:endParaRPr sz="1200"/>
          </a:p>
        </p:txBody>
      </p:sp>
      <p:sp>
        <p:nvSpPr>
          <p:cNvPr id="910" name="Google Shape;910;p53"/>
          <p:cNvSpPr txBox="1"/>
          <p:nvPr>
            <p:ph idx="13" type="title"/>
          </p:nvPr>
        </p:nvSpPr>
        <p:spPr>
          <a:xfrm>
            <a:off x="136350" y="178050"/>
            <a:ext cx="6440400" cy="1237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Step 1 – Identification</a:t>
            </a:r>
            <a:endParaRPr/>
          </a:p>
          <a:p>
            <a:pPr indent="0" lvl="0" marL="0" rtl="0" algn="l">
              <a:spcBef>
                <a:spcPts val="0"/>
              </a:spcBef>
              <a:spcAft>
                <a:spcPts val="0"/>
              </a:spcAft>
              <a:buNone/>
            </a:pPr>
            <a:r>
              <a:t/>
            </a:r>
            <a:endParaRPr/>
          </a:p>
        </p:txBody>
      </p:sp>
      <p:sp>
        <p:nvSpPr>
          <p:cNvPr id="911" name="Google Shape;911;p53"/>
          <p:cNvSpPr/>
          <p:nvPr/>
        </p:nvSpPr>
        <p:spPr>
          <a:xfrm flipH="1" rot="10800000">
            <a:off x="3820800" y="3404225"/>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2" name="Google Shape;912;p53"/>
          <p:cNvSpPr txBox="1"/>
          <p:nvPr>
            <p:ph idx="5" type="title"/>
          </p:nvPr>
        </p:nvSpPr>
        <p:spPr>
          <a:xfrm>
            <a:off x="1161750" y="3440500"/>
            <a:ext cx="64404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File /user_folders/jake/project.docx modified at 2025-04-22 08:43:03, which Jake denies performing just a minute after logging in which means there was a log-in session running from an unfamiliar IP.</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t/>
            </a:r>
            <a:endParaRPr sz="1200"/>
          </a:p>
        </p:txBody>
      </p:sp>
      <p:sp>
        <p:nvSpPr>
          <p:cNvPr id="913" name="Google Shape;913;p53"/>
          <p:cNvSpPr txBox="1"/>
          <p:nvPr>
            <p:ph idx="5" type="title"/>
          </p:nvPr>
        </p:nvSpPr>
        <p:spPr>
          <a:xfrm>
            <a:off x="1156462" y="4184400"/>
            <a:ext cx="56412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Jake accessed his file at 08:45:30 and realized the file had been modified.</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t/>
            </a:r>
            <a:endParaRPr sz="1200"/>
          </a:p>
        </p:txBody>
      </p:sp>
      <p:sp>
        <p:nvSpPr>
          <p:cNvPr id="914" name="Google Shape;914;p53"/>
          <p:cNvSpPr/>
          <p:nvPr/>
        </p:nvSpPr>
        <p:spPr>
          <a:xfrm>
            <a:off x="228600" y="3525626"/>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15" name="Google Shape;915;p53"/>
          <p:cNvSpPr/>
          <p:nvPr/>
        </p:nvSpPr>
        <p:spPr>
          <a:xfrm>
            <a:off x="228600" y="4319102"/>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16" name="Google Shape;916;p53"/>
          <p:cNvSpPr/>
          <p:nvPr/>
        </p:nvSpPr>
        <p:spPr>
          <a:xfrm flipH="1" rot="10800000">
            <a:off x="3820800" y="4146700"/>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4"/>
          <p:cNvSpPr txBox="1"/>
          <p:nvPr>
            <p:ph idx="2" type="body"/>
          </p:nvPr>
        </p:nvSpPr>
        <p:spPr>
          <a:xfrm>
            <a:off x="3422500" y="1201350"/>
            <a:ext cx="3618000" cy="12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Sora Medium"/>
                <a:ea typeface="Sora Medium"/>
                <a:cs typeface="Sora Medium"/>
                <a:sym typeface="Sora Medium"/>
              </a:rPr>
              <a:t>Jake’s account was temporarily disabled to prevent further unauthorized access.</a:t>
            </a:r>
            <a:endParaRPr sz="1600">
              <a:solidFill>
                <a:srgbClr val="000000"/>
              </a:solidFill>
              <a:latin typeface="Sora Medium"/>
              <a:ea typeface="Sora Medium"/>
              <a:cs typeface="Sora Medium"/>
              <a:sym typeface="Sora Medium"/>
            </a:endParaRPr>
          </a:p>
          <a:p>
            <a:pPr indent="0" lvl="0" marL="0" rtl="0" algn="l">
              <a:spcBef>
                <a:spcPts val="800"/>
              </a:spcBef>
              <a:spcAft>
                <a:spcPts val="0"/>
              </a:spcAft>
              <a:buNone/>
            </a:pPr>
            <a:r>
              <a:t/>
            </a:r>
            <a:endParaRPr sz="1600">
              <a:solidFill>
                <a:srgbClr val="000000"/>
              </a:solidFill>
              <a:latin typeface="Sora Medium"/>
              <a:ea typeface="Sora Medium"/>
              <a:cs typeface="Sora Medium"/>
              <a:sym typeface="Sora Medium"/>
            </a:endParaRPr>
          </a:p>
          <a:p>
            <a:pPr indent="0" lvl="0" marL="0" rtl="0" algn="l">
              <a:spcBef>
                <a:spcPts val="800"/>
              </a:spcBef>
              <a:spcAft>
                <a:spcPts val="800"/>
              </a:spcAft>
              <a:buNone/>
            </a:pPr>
            <a:r>
              <a:t/>
            </a:r>
            <a:endParaRPr sz="1600">
              <a:solidFill>
                <a:srgbClr val="000000"/>
              </a:solidFill>
              <a:latin typeface="Sora Medium"/>
              <a:ea typeface="Sora Medium"/>
              <a:cs typeface="Sora Medium"/>
              <a:sym typeface="Sora Medium"/>
            </a:endParaRPr>
          </a:p>
        </p:txBody>
      </p:sp>
      <p:sp>
        <p:nvSpPr>
          <p:cNvPr id="922" name="Google Shape;922;p54"/>
          <p:cNvSpPr txBox="1"/>
          <p:nvPr>
            <p:ph idx="3" type="title"/>
          </p:nvPr>
        </p:nvSpPr>
        <p:spPr>
          <a:xfrm>
            <a:off x="115025" y="502775"/>
            <a:ext cx="3905400" cy="1293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Step 2 – Containment: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5"/>
          <p:cNvSpPr txBox="1"/>
          <p:nvPr>
            <p:ph idx="2" type="body"/>
          </p:nvPr>
        </p:nvSpPr>
        <p:spPr>
          <a:xfrm>
            <a:off x="3422500" y="1201350"/>
            <a:ext cx="4221300" cy="2244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Conducted malware scan on Jake’s device and computers connected to it.</a:t>
            </a:r>
            <a:endParaRPr sz="1400">
              <a:solidFill>
                <a:srgbClr val="000000"/>
              </a:solidFill>
              <a:latin typeface="Sora Medium"/>
              <a:ea typeface="Sora Medium"/>
              <a:cs typeface="Sora Medium"/>
              <a:sym typeface="Sora Medium"/>
            </a:endParaRPr>
          </a:p>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Password reset for Jake’s account.</a:t>
            </a:r>
            <a:endParaRPr sz="1400">
              <a:solidFill>
                <a:srgbClr val="000000"/>
              </a:solidFill>
              <a:latin typeface="Sora Medium"/>
              <a:ea typeface="Sora Medium"/>
              <a:cs typeface="Sora Medium"/>
              <a:sym typeface="Sora Medium"/>
            </a:endParaRPr>
          </a:p>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Enabling Multi-Factor Authentication for Jake’s account.</a:t>
            </a:r>
            <a:endParaRPr sz="1400">
              <a:solidFill>
                <a:srgbClr val="000000"/>
              </a:solidFill>
              <a:latin typeface="Sora Medium"/>
              <a:ea typeface="Sora Medium"/>
              <a:cs typeface="Sora Medium"/>
              <a:sym typeface="Sora Medium"/>
            </a:endParaRPr>
          </a:p>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Blocked IP 198.51.100.7 at the firewall.</a:t>
            </a:r>
            <a:endParaRPr sz="1400">
              <a:solidFill>
                <a:srgbClr val="000000"/>
              </a:solidFill>
              <a:latin typeface="Sora Medium"/>
              <a:ea typeface="Sora Medium"/>
              <a:cs typeface="Sora Medium"/>
              <a:sym typeface="Sora Medium"/>
            </a:endParaRPr>
          </a:p>
        </p:txBody>
      </p:sp>
      <p:sp>
        <p:nvSpPr>
          <p:cNvPr id="928" name="Google Shape;928;p55"/>
          <p:cNvSpPr txBox="1"/>
          <p:nvPr>
            <p:ph idx="3" type="title"/>
          </p:nvPr>
        </p:nvSpPr>
        <p:spPr>
          <a:xfrm>
            <a:off x="115025" y="502775"/>
            <a:ext cx="3905400" cy="1293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Step 3 – Eradication: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56"/>
          <p:cNvSpPr txBox="1"/>
          <p:nvPr>
            <p:ph idx="2" type="body"/>
          </p:nvPr>
        </p:nvSpPr>
        <p:spPr>
          <a:xfrm>
            <a:off x="3422500" y="1201350"/>
            <a:ext cx="4805700" cy="22449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Re-enabled Jake’s account with new credentials and enabled enhanced monitoring for suspicious activities.</a:t>
            </a:r>
            <a:endParaRPr sz="1400">
              <a:solidFill>
                <a:srgbClr val="000000"/>
              </a:solidFill>
              <a:latin typeface="Sora Medium"/>
              <a:ea typeface="Sora Medium"/>
              <a:cs typeface="Sora Medium"/>
              <a:sym typeface="Sora Medium"/>
            </a:endParaRPr>
          </a:p>
          <a:p>
            <a:pPr indent="-317500" lvl="0" marL="457200" rtl="0" algn="l">
              <a:lnSpc>
                <a:spcPct val="150000"/>
              </a:lnSpc>
              <a:spcBef>
                <a:spcPts val="0"/>
              </a:spcBef>
              <a:spcAft>
                <a:spcPts val="0"/>
              </a:spcAft>
              <a:buClr>
                <a:srgbClr val="000000"/>
              </a:buClr>
              <a:buSzPts val="1400"/>
              <a:buFont typeface="Sora Medium"/>
              <a:buChar char="❏"/>
            </a:pPr>
            <a:r>
              <a:rPr lang="en" sz="1400">
                <a:solidFill>
                  <a:srgbClr val="000000"/>
                </a:solidFill>
                <a:latin typeface="Sora Medium"/>
                <a:ea typeface="Sora Medium"/>
                <a:cs typeface="Sora Medium"/>
                <a:sym typeface="Sora Medium"/>
              </a:rPr>
              <a:t>Restored /user_folders/jake/project.docx from a clean backup.</a:t>
            </a:r>
            <a:endParaRPr sz="1400">
              <a:solidFill>
                <a:srgbClr val="000000"/>
              </a:solidFill>
              <a:latin typeface="Sora Medium"/>
              <a:ea typeface="Sora Medium"/>
              <a:cs typeface="Sora Medium"/>
              <a:sym typeface="Sora Medium"/>
            </a:endParaRPr>
          </a:p>
          <a:p>
            <a:pPr indent="0" lvl="0" marL="457200" rtl="0" algn="l">
              <a:lnSpc>
                <a:spcPct val="150000"/>
              </a:lnSpc>
              <a:spcBef>
                <a:spcPts val="800"/>
              </a:spcBef>
              <a:spcAft>
                <a:spcPts val="800"/>
              </a:spcAft>
              <a:buNone/>
            </a:pPr>
            <a:r>
              <a:t/>
            </a:r>
            <a:endParaRPr sz="1400">
              <a:solidFill>
                <a:srgbClr val="000000"/>
              </a:solidFill>
              <a:latin typeface="Sora Medium"/>
              <a:ea typeface="Sora Medium"/>
              <a:cs typeface="Sora Medium"/>
              <a:sym typeface="Sora Medium"/>
            </a:endParaRPr>
          </a:p>
        </p:txBody>
      </p:sp>
      <p:sp>
        <p:nvSpPr>
          <p:cNvPr id="934" name="Google Shape;934;p56"/>
          <p:cNvSpPr txBox="1"/>
          <p:nvPr>
            <p:ph idx="3" type="title"/>
          </p:nvPr>
        </p:nvSpPr>
        <p:spPr>
          <a:xfrm>
            <a:off x="115025" y="502775"/>
            <a:ext cx="3905400" cy="1293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Step 4 – </a:t>
            </a:r>
            <a:endParaRPr/>
          </a:p>
          <a:p>
            <a:pPr indent="0" lvl="0" marL="0" rtl="0" algn="l">
              <a:lnSpc>
                <a:spcPct val="100000"/>
              </a:lnSpc>
              <a:spcBef>
                <a:spcPts val="0"/>
              </a:spcBef>
              <a:spcAft>
                <a:spcPts val="0"/>
              </a:spcAft>
              <a:buNone/>
            </a:pPr>
            <a:r>
              <a:rPr lang="en"/>
              <a:t>Recovery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57"/>
          <p:cNvSpPr txBox="1"/>
          <p:nvPr>
            <p:ph idx="2" type="body"/>
          </p:nvPr>
        </p:nvSpPr>
        <p:spPr>
          <a:xfrm>
            <a:off x="3154650" y="1356175"/>
            <a:ext cx="5441700" cy="31941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rgbClr val="000000"/>
              </a:buClr>
              <a:buSzPts val="1300"/>
              <a:buFont typeface="Sora Medium"/>
              <a:buChar char="❏"/>
            </a:pPr>
            <a:r>
              <a:rPr lang="en" sz="1300">
                <a:solidFill>
                  <a:srgbClr val="000000"/>
                </a:solidFill>
                <a:latin typeface="Sora Medium"/>
                <a:ea typeface="Sora Medium"/>
                <a:cs typeface="Sora Medium"/>
                <a:sym typeface="Sora Medium"/>
              </a:rPr>
              <a:t>Implement Multi-Factor Authentication for all user accounts to enhance security.</a:t>
            </a:r>
            <a:endParaRPr sz="1300">
              <a:solidFill>
                <a:srgbClr val="000000"/>
              </a:solidFill>
              <a:latin typeface="Sora Medium"/>
              <a:ea typeface="Sora Medium"/>
              <a:cs typeface="Sora Medium"/>
              <a:sym typeface="Sora Medium"/>
            </a:endParaRPr>
          </a:p>
          <a:p>
            <a:pPr indent="-311150" lvl="0" marL="457200" rtl="0" algn="l">
              <a:lnSpc>
                <a:spcPct val="150000"/>
              </a:lnSpc>
              <a:spcBef>
                <a:spcPts val="0"/>
              </a:spcBef>
              <a:spcAft>
                <a:spcPts val="0"/>
              </a:spcAft>
              <a:buClr>
                <a:srgbClr val="000000"/>
              </a:buClr>
              <a:buSzPts val="1300"/>
              <a:buFont typeface="Sora Medium"/>
              <a:buChar char="❏"/>
            </a:pPr>
            <a:r>
              <a:rPr lang="en" sz="1300">
                <a:solidFill>
                  <a:srgbClr val="000000"/>
                </a:solidFill>
                <a:latin typeface="Sora Medium"/>
                <a:ea typeface="Sora Medium"/>
                <a:cs typeface="Sora Medium"/>
                <a:sym typeface="Sora Medium"/>
              </a:rPr>
              <a:t>Deploy an Intrusion Detection/Prevention System for real-time detection of suspicious logins and file changes.</a:t>
            </a:r>
            <a:endParaRPr sz="1300">
              <a:solidFill>
                <a:srgbClr val="000000"/>
              </a:solidFill>
              <a:latin typeface="Sora Medium"/>
              <a:ea typeface="Sora Medium"/>
              <a:cs typeface="Sora Medium"/>
              <a:sym typeface="Sora Medium"/>
            </a:endParaRPr>
          </a:p>
          <a:p>
            <a:pPr indent="-311150" lvl="0" marL="457200" rtl="0" algn="l">
              <a:lnSpc>
                <a:spcPct val="150000"/>
              </a:lnSpc>
              <a:spcBef>
                <a:spcPts val="0"/>
              </a:spcBef>
              <a:spcAft>
                <a:spcPts val="0"/>
              </a:spcAft>
              <a:buClr>
                <a:srgbClr val="000000"/>
              </a:buClr>
              <a:buSzPts val="1300"/>
              <a:buFont typeface="Sora Medium"/>
              <a:buChar char="❏"/>
            </a:pPr>
            <a:r>
              <a:rPr lang="en" sz="1300">
                <a:solidFill>
                  <a:srgbClr val="000000"/>
                </a:solidFill>
                <a:latin typeface="Sora Medium"/>
                <a:ea typeface="Sora Medium"/>
                <a:cs typeface="Sora Medium"/>
                <a:sym typeface="Sora Medium"/>
              </a:rPr>
              <a:t>Conduct regular user training on phishing attempts.</a:t>
            </a:r>
            <a:endParaRPr sz="1300">
              <a:solidFill>
                <a:srgbClr val="000000"/>
              </a:solidFill>
              <a:latin typeface="Sora Medium"/>
              <a:ea typeface="Sora Medium"/>
              <a:cs typeface="Sora Medium"/>
              <a:sym typeface="Sora Medium"/>
            </a:endParaRPr>
          </a:p>
          <a:p>
            <a:pPr indent="-311150" lvl="0" marL="457200" rtl="0" algn="l">
              <a:lnSpc>
                <a:spcPct val="150000"/>
              </a:lnSpc>
              <a:spcBef>
                <a:spcPts val="0"/>
              </a:spcBef>
              <a:spcAft>
                <a:spcPts val="0"/>
              </a:spcAft>
              <a:buClr>
                <a:srgbClr val="000000"/>
              </a:buClr>
              <a:buSzPts val="1300"/>
              <a:buFont typeface="Sora Medium"/>
              <a:buChar char="❏"/>
            </a:pPr>
            <a:r>
              <a:rPr lang="en" sz="1300">
                <a:solidFill>
                  <a:srgbClr val="000000"/>
                </a:solidFill>
                <a:latin typeface="Sora Medium"/>
                <a:ea typeface="Sora Medium"/>
                <a:cs typeface="Sora Medium"/>
                <a:sym typeface="Sora Medium"/>
              </a:rPr>
              <a:t>Encourage security practices like using a password manager and employees must not use the “Keep me signed-in” policy on their browsers.</a:t>
            </a:r>
            <a:endParaRPr sz="1300">
              <a:solidFill>
                <a:srgbClr val="000000"/>
              </a:solidFill>
              <a:latin typeface="Sora Medium"/>
              <a:ea typeface="Sora Medium"/>
              <a:cs typeface="Sora Medium"/>
              <a:sym typeface="Sora Medium"/>
            </a:endParaRPr>
          </a:p>
          <a:p>
            <a:pPr indent="0" lvl="0" marL="457200" rtl="0" algn="l">
              <a:lnSpc>
                <a:spcPct val="150000"/>
              </a:lnSpc>
              <a:spcBef>
                <a:spcPts val="800"/>
              </a:spcBef>
              <a:spcAft>
                <a:spcPts val="0"/>
              </a:spcAft>
              <a:buNone/>
            </a:pPr>
            <a:r>
              <a:t/>
            </a:r>
            <a:endParaRPr sz="1300">
              <a:solidFill>
                <a:srgbClr val="000000"/>
              </a:solidFill>
              <a:latin typeface="Sora Medium"/>
              <a:ea typeface="Sora Medium"/>
              <a:cs typeface="Sora Medium"/>
              <a:sym typeface="Sora Medium"/>
            </a:endParaRPr>
          </a:p>
          <a:p>
            <a:pPr indent="0" lvl="0" marL="457200" rtl="0" algn="l">
              <a:lnSpc>
                <a:spcPct val="150000"/>
              </a:lnSpc>
              <a:spcBef>
                <a:spcPts val="800"/>
              </a:spcBef>
              <a:spcAft>
                <a:spcPts val="800"/>
              </a:spcAft>
              <a:buNone/>
            </a:pPr>
            <a:r>
              <a:t/>
            </a:r>
            <a:endParaRPr sz="1300">
              <a:solidFill>
                <a:srgbClr val="000000"/>
              </a:solidFill>
              <a:latin typeface="Sora Medium"/>
              <a:ea typeface="Sora Medium"/>
              <a:cs typeface="Sora Medium"/>
              <a:sym typeface="Sora Medium"/>
            </a:endParaRPr>
          </a:p>
        </p:txBody>
      </p:sp>
      <p:sp>
        <p:nvSpPr>
          <p:cNvPr id="940" name="Google Shape;940;p57"/>
          <p:cNvSpPr txBox="1"/>
          <p:nvPr>
            <p:ph idx="3" type="title"/>
          </p:nvPr>
        </p:nvSpPr>
        <p:spPr>
          <a:xfrm>
            <a:off x="125850" y="329600"/>
            <a:ext cx="3905400" cy="1293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Step 5 – Lessons Learned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8"/>
          <p:cNvSpPr txBox="1"/>
          <p:nvPr>
            <p:ph type="title"/>
          </p:nvPr>
        </p:nvSpPr>
        <p:spPr>
          <a:xfrm>
            <a:off x="134550" y="1621688"/>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Six-Step Lifecycle:</a:t>
            </a:r>
            <a:endParaRPr/>
          </a:p>
        </p:txBody>
      </p:sp>
      <p:sp>
        <p:nvSpPr>
          <p:cNvPr id="946" name="Google Shape;946;p58"/>
          <p:cNvSpPr txBox="1"/>
          <p:nvPr>
            <p:ph idx="2" type="title"/>
          </p:nvPr>
        </p:nvSpPr>
        <p:spPr>
          <a:xfrm>
            <a:off x="134550" y="2339050"/>
            <a:ext cx="1383000" cy="6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Roles &amp; Responsibilities:</a:t>
            </a:r>
            <a:endParaRPr/>
          </a:p>
        </p:txBody>
      </p:sp>
      <p:sp>
        <p:nvSpPr>
          <p:cNvPr id="947" name="Google Shape;947;p58"/>
          <p:cNvSpPr txBox="1"/>
          <p:nvPr>
            <p:ph idx="3" type="title"/>
          </p:nvPr>
        </p:nvSpPr>
        <p:spPr>
          <a:xfrm>
            <a:off x="134550" y="3822625"/>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Controls:</a:t>
            </a:r>
            <a:endParaRPr/>
          </a:p>
        </p:txBody>
      </p:sp>
      <p:sp>
        <p:nvSpPr>
          <p:cNvPr id="948" name="Google Shape;948;p58"/>
          <p:cNvSpPr txBox="1"/>
          <p:nvPr>
            <p:ph idx="17" type="body"/>
          </p:nvPr>
        </p:nvSpPr>
        <p:spPr>
          <a:xfrm>
            <a:off x="1443826" y="1524225"/>
            <a:ext cx="336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3DFD6"/>
                </a:solidFill>
              </a:rPr>
              <a:t>Identification  |  Containment |    Eradication Recovery   |   Lessons Learned   |Documentation </a:t>
            </a:r>
            <a:endParaRPr>
              <a:solidFill>
                <a:srgbClr val="E3DFD6"/>
              </a:solidFill>
            </a:endParaRPr>
          </a:p>
          <a:p>
            <a:pPr indent="0" lvl="0" marL="0" rtl="0" algn="l">
              <a:spcBef>
                <a:spcPts val="0"/>
              </a:spcBef>
              <a:spcAft>
                <a:spcPts val="0"/>
              </a:spcAft>
              <a:buNone/>
            </a:pPr>
            <a:r>
              <a:t/>
            </a:r>
            <a:endParaRPr>
              <a:solidFill>
                <a:srgbClr val="E3DFD6"/>
              </a:solidFill>
            </a:endParaRPr>
          </a:p>
        </p:txBody>
      </p:sp>
      <p:sp>
        <p:nvSpPr>
          <p:cNvPr id="949" name="Google Shape;949;p58"/>
          <p:cNvSpPr txBox="1"/>
          <p:nvPr>
            <p:ph idx="19" type="body"/>
          </p:nvPr>
        </p:nvSpPr>
        <p:spPr>
          <a:xfrm>
            <a:off x="6444121" y="1524225"/>
            <a:ext cx="2296500" cy="8325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Char char="➔"/>
            </a:pPr>
            <a:r>
              <a:rPr lang="en">
                <a:solidFill>
                  <a:schemeClr val="dk2"/>
                </a:solidFill>
              </a:rPr>
              <a:t>Internal/external alerts as needed</a:t>
            </a:r>
            <a:br>
              <a:rPr lang="en">
                <a:solidFill>
                  <a:schemeClr val="dk2"/>
                </a:solidFill>
              </a:rPr>
            </a:br>
            <a:endParaRPr>
              <a:solidFill>
                <a:schemeClr val="dk2"/>
              </a:solidFill>
            </a:endParaRPr>
          </a:p>
          <a:p>
            <a:pPr indent="-292100" lvl="0" marL="457200" rtl="0" algn="l">
              <a:spcBef>
                <a:spcPts val="0"/>
              </a:spcBef>
              <a:spcAft>
                <a:spcPts val="0"/>
              </a:spcAft>
              <a:buClr>
                <a:schemeClr val="dk2"/>
              </a:buClr>
              <a:buSzPts val="1000"/>
              <a:buChar char="➔"/>
            </a:pPr>
            <a:r>
              <a:rPr lang="en">
                <a:solidFill>
                  <a:schemeClr val="dk2"/>
                </a:solidFill>
              </a:rPr>
              <a:t>Annual staff training + quarterly IRT drills</a:t>
            </a:r>
            <a:endParaRPr>
              <a:solidFill>
                <a:schemeClr val="dk2"/>
              </a:solidFill>
            </a:endParaRPr>
          </a:p>
          <a:p>
            <a:pPr indent="0" lvl="0" marL="457200" rtl="0" algn="l">
              <a:spcBef>
                <a:spcPts val="0"/>
              </a:spcBef>
              <a:spcAft>
                <a:spcPts val="0"/>
              </a:spcAft>
              <a:buNone/>
            </a:pPr>
            <a:r>
              <a:t/>
            </a:r>
            <a:endParaRPr>
              <a:solidFill>
                <a:schemeClr val="dk2"/>
              </a:solidFill>
            </a:endParaRPr>
          </a:p>
        </p:txBody>
      </p:sp>
      <p:sp>
        <p:nvSpPr>
          <p:cNvPr id="950" name="Google Shape;950;p58"/>
          <p:cNvSpPr txBox="1"/>
          <p:nvPr>
            <p:ph idx="14" type="body"/>
          </p:nvPr>
        </p:nvSpPr>
        <p:spPr>
          <a:xfrm>
            <a:off x="1546868" y="2312950"/>
            <a:ext cx="3639900" cy="1534200"/>
          </a:xfrm>
          <a:prstGeom prst="rect">
            <a:avLst/>
          </a:prstGeom>
        </p:spPr>
        <p:txBody>
          <a:bodyPr anchorCtr="0" anchor="t" bIns="91425" lIns="91425" spcFirstLastPara="1" rIns="91425" wrap="square" tIns="91425">
            <a:noAutofit/>
          </a:bodyPr>
          <a:lstStyle/>
          <a:p>
            <a:pPr indent="-234950" lvl="0" marL="142875" rtl="0" algn="l">
              <a:spcBef>
                <a:spcPts val="0"/>
              </a:spcBef>
              <a:spcAft>
                <a:spcPts val="0"/>
              </a:spcAft>
              <a:buClr>
                <a:srgbClr val="E3DFD6"/>
              </a:buClr>
              <a:buSzPts val="1000"/>
              <a:buChar char="➔"/>
            </a:pPr>
            <a:r>
              <a:rPr lang="en">
                <a:solidFill>
                  <a:srgbClr val="E3DFD6"/>
                </a:solidFill>
              </a:rPr>
              <a:t>Employees: Report incidents within 1 hour.</a:t>
            </a:r>
            <a:br>
              <a:rPr lang="en">
                <a:solidFill>
                  <a:srgbClr val="E3DFD6"/>
                </a:solidFill>
              </a:rPr>
            </a:br>
            <a:endParaRPr>
              <a:solidFill>
                <a:srgbClr val="E3DFD6"/>
              </a:solidFill>
            </a:endParaRPr>
          </a:p>
          <a:p>
            <a:pPr indent="-234950" lvl="0" marL="142875" rtl="0" algn="l">
              <a:spcBef>
                <a:spcPts val="0"/>
              </a:spcBef>
              <a:spcAft>
                <a:spcPts val="0"/>
              </a:spcAft>
              <a:buClr>
                <a:srgbClr val="E3DFD6"/>
              </a:buClr>
              <a:buSzPts val="1000"/>
              <a:buChar char="➔"/>
            </a:pPr>
            <a:r>
              <a:rPr lang="en">
                <a:solidFill>
                  <a:srgbClr val="E3DFD6"/>
                </a:solidFill>
              </a:rPr>
              <a:t>IT Help Desk: Log and escalate incidents.</a:t>
            </a:r>
            <a:br>
              <a:rPr lang="en">
                <a:solidFill>
                  <a:srgbClr val="E3DFD6"/>
                </a:solidFill>
              </a:rPr>
            </a:br>
            <a:endParaRPr>
              <a:solidFill>
                <a:srgbClr val="E3DFD6"/>
              </a:solidFill>
            </a:endParaRPr>
          </a:p>
          <a:p>
            <a:pPr indent="-234950" lvl="0" marL="142875" rtl="0" algn="l">
              <a:spcBef>
                <a:spcPts val="0"/>
              </a:spcBef>
              <a:spcAft>
                <a:spcPts val="0"/>
              </a:spcAft>
              <a:buClr>
                <a:srgbClr val="E3DFD6"/>
              </a:buClr>
              <a:buSzPts val="1000"/>
              <a:buChar char="➔"/>
            </a:pPr>
            <a:r>
              <a:rPr lang="en">
                <a:solidFill>
                  <a:srgbClr val="E3DFD6"/>
                </a:solidFill>
              </a:rPr>
              <a:t>IRT: Lead containment and recovery.</a:t>
            </a:r>
            <a:br>
              <a:rPr lang="en">
                <a:solidFill>
                  <a:srgbClr val="E3DFD6"/>
                </a:solidFill>
              </a:rPr>
            </a:br>
            <a:endParaRPr>
              <a:solidFill>
                <a:srgbClr val="E3DFD6"/>
              </a:solidFill>
            </a:endParaRPr>
          </a:p>
          <a:p>
            <a:pPr indent="-234950" lvl="0" marL="142875" rtl="0" algn="l">
              <a:spcBef>
                <a:spcPts val="0"/>
              </a:spcBef>
              <a:spcAft>
                <a:spcPts val="0"/>
              </a:spcAft>
              <a:buClr>
                <a:srgbClr val="E3DFD6"/>
              </a:buClr>
              <a:buSzPts val="1000"/>
              <a:buChar char="➔"/>
            </a:pPr>
            <a:r>
              <a:rPr lang="en">
                <a:solidFill>
                  <a:srgbClr val="E3DFD6"/>
                </a:solidFill>
              </a:rPr>
              <a:t>Management: Approve escalations and resources.</a:t>
            </a:r>
            <a:endParaRPr>
              <a:solidFill>
                <a:srgbClr val="E3DFD6"/>
              </a:solidFill>
            </a:endParaRPr>
          </a:p>
          <a:p>
            <a:pPr indent="0" lvl="0" marL="0" rtl="0" algn="l">
              <a:spcBef>
                <a:spcPts val="0"/>
              </a:spcBef>
              <a:spcAft>
                <a:spcPts val="0"/>
              </a:spcAft>
              <a:buNone/>
            </a:pPr>
            <a:r>
              <a:t/>
            </a:r>
            <a:endParaRPr>
              <a:solidFill>
                <a:srgbClr val="E3DFD6"/>
              </a:solidFill>
            </a:endParaRPr>
          </a:p>
        </p:txBody>
      </p:sp>
      <p:sp>
        <p:nvSpPr>
          <p:cNvPr id="951" name="Google Shape;951;p58"/>
          <p:cNvSpPr txBox="1"/>
          <p:nvPr>
            <p:ph idx="16" type="body"/>
          </p:nvPr>
        </p:nvSpPr>
        <p:spPr>
          <a:xfrm>
            <a:off x="6315650" y="2837850"/>
            <a:ext cx="2296500" cy="15342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Char char="➔"/>
            </a:pPr>
            <a:r>
              <a:rPr lang="en">
                <a:solidFill>
                  <a:schemeClr val="dk2"/>
                </a:solidFill>
              </a:rPr>
              <a:t>Post-incident reviews within 7 days</a:t>
            </a:r>
            <a:br>
              <a:rPr lang="en">
                <a:solidFill>
                  <a:schemeClr val="dk2"/>
                </a:solidFill>
              </a:rPr>
            </a:br>
            <a:endParaRPr>
              <a:solidFill>
                <a:schemeClr val="dk2"/>
              </a:solidFill>
            </a:endParaRPr>
          </a:p>
          <a:p>
            <a:pPr indent="-292100" lvl="0" marL="457200" rtl="0" algn="l">
              <a:spcBef>
                <a:spcPts val="0"/>
              </a:spcBef>
              <a:spcAft>
                <a:spcPts val="0"/>
              </a:spcAft>
              <a:buClr>
                <a:schemeClr val="dk2"/>
              </a:buClr>
              <a:buSzPts val="1000"/>
              <a:buChar char="➔"/>
            </a:pPr>
            <a:r>
              <a:rPr lang="en">
                <a:solidFill>
                  <a:schemeClr val="dk2"/>
                </a:solidFill>
              </a:rPr>
              <a:t>Track detection/recovery metrics</a:t>
            </a:r>
            <a:br>
              <a:rPr lang="en">
                <a:solidFill>
                  <a:schemeClr val="dk2"/>
                </a:solidFill>
              </a:rPr>
            </a:br>
            <a:endParaRPr>
              <a:solidFill>
                <a:schemeClr val="dk2"/>
              </a:solidFill>
            </a:endParaRPr>
          </a:p>
          <a:p>
            <a:pPr indent="-292100" lvl="0" marL="457200" rtl="0" algn="l">
              <a:spcBef>
                <a:spcPts val="0"/>
              </a:spcBef>
              <a:spcAft>
                <a:spcPts val="0"/>
              </a:spcAft>
              <a:buClr>
                <a:schemeClr val="dk2"/>
              </a:buClr>
              <a:buSzPts val="1000"/>
              <a:buChar char="➔"/>
            </a:pPr>
            <a:r>
              <a:rPr lang="en">
                <a:solidFill>
                  <a:schemeClr val="dk2"/>
                </a:solidFill>
              </a:rPr>
              <a:t>Annual ISO-aligned audits</a:t>
            </a:r>
            <a:endParaRPr>
              <a:solidFill>
                <a:schemeClr val="dk2"/>
              </a:solidFill>
            </a:endParaRPr>
          </a:p>
          <a:p>
            <a:pPr indent="0" lvl="0" marL="457200" rtl="0" algn="l">
              <a:spcBef>
                <a:spcPts val="0"/>
              </a:spcBef>
              <a:spcAft>
                <a:spcPts val="0"/>
              </a:spcAft>
              <a:buNone/>
            </a:pPr>
            <a:r>
              <a:t/>
            </a:r>
            <a:endParaRPr>
              <a:solidFill>
                <a:schemeClr val="dk2"/>
              </a:solidFill>
            </a:endParaRPr>
          </a:p>
        </p:txBody>
      </p:sp>
      <p:sp>
        <p:nvSpPr>
          <p:cNvPr id="952" name="Google Shape;952;p58"/>
          <p:cNvSpPr txBox="1"/>
          <p:nvPr>
            <p:ph idx="1" type="body"/>
          </p:nvPr>
        </p:nvSpPr>
        <p:spPr>
          <a:xfrm>
            <a:off x="1326150" y="3898825"/>
            <a:ext cx="3442200" cy="999900"/>
          </a:xfrm>
          <a:prstGeom prst="rect">
            <a:avLst/>
          </a:prstGeom>
        </p:spPr>
        <p:txBody>
          <a:bodyPr anchorCtr="0" anchor="t" bIns="91425" lIns="91425" spcFirstLastPara="1" rIns="91425" wrap="square" tIns="91425">
            <a:normAutofit/>
          </a:bodyPr>
          <a:lstStyle/>
          <a:p>
            <a:pPr indent="0" lvl="0" marL="142875" rtl="0" algn="l">
              <a:spcBef>
                <a:spcPts val="0"/>
              </a:spcBef>
              <a:spcAft>
                <a:spcPts val="0"/>
              </a:spcAft>
              <a:buNone/>
            </a:pPr>
            <a:r>
              <a:rPr lang="en">
                <a:solidFill>
                  <a:schemeClr val="dk2"/>
                </a:solidFill>
              </a:rPr>
              <a:t>MFA, IDPS, backups, segmentation, vulnerability scans</a:t>
            </a:r>
            <a:endParaRPr>
              <a:solidFill>
                <a:schemeClr val="dk2"/>
              </a:solidFill>
            </a:endParaRPr>
          </a:p>
        </p:txBody>
      </p:sp>
      <p:cxnSp>
        <p:nvCxnSpPr>
          <p:cNvPr id="953" name="Google Shape;953;p58"/>
          <p:cNvCxnSpPr/>
          <p:nvPr/>
        </p:nvCxnSpPr>
        <p:spPr>
          <a:xfrm>
            <a:off x="1409275" y="1385175"/>
            <a:ext cx="7734900" cy="0"/>
          </a:xfrm>
          <a:prstGeom prst="straightConnector1">
            <a:avLst/>
          </a:prstGeom>
          <a:noFill/>
          <a:ln cap="flat" cmpd="sng" w="19050">
            <a:solidFill>
              <a:schemeClr val="accent5"/>
            </a:solidFill>
            <a:prstDash val="solid"/>
            <a:round/>
            <a:headEnd len="med" w="med" type="none"/>
            <a:tailEnd len="med" w="med" type="none"/>
          </a:ln>
        </p:spPr>
      </p:cxnSp>
      <p:sp>
        <p:nvSpPr>
          <p:cNvPr id="954" name="Google Shape;954;p58"/>
          <p:cNvSpPr txBox="1"/>
          <p:nvPr/>
        </p:nvSpPr>
        <p:spPr>
          <a:xfrm>
            <a:off x="181500" y="102275"/>
            <a:ext cx="4390500" cy="832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5500">
                <a:solidFill>
                  <a:srgbClr val="E3DFD6"/>
                </a:solidFill>
                <a:latin typeface="IBM Plex Sans"/>
                <a:ea typeface="IBM Plex Sans"/>
                <a:cs typeface="IBM Plex Sans"/>
                <a:sym typeface="IBM Plex Sans"/>
              </a:rPr>
              <a:t>Policy</a:t>
            </a:r>
            <a:endParaRPr sz="5500">
              <a:solidFill>
                <a:srgbClr val="E3DFD6"/>
              </a:solidFill>
              <a:latin typeface="IBM Plex Sans"/>
              <a:ea typeface="IBM Plex Sans"/>
              <a:cs typeface="IBM Plex Sans"/>
              <a:sym typeface="IBM Plex Sans"/>
            </a:endParaRPr>
          </a:p>
        </p:txBody>
      </p:sp>
      <p:sp>
        <p:nvSpPr>
          <p:cNvPr id="955" name="Google Shape;955;p58"/>
          <p:cNvSpPr txBox="1"/>
          <p:nvPr>
            <p:ph type="title"/>
          </p:nvPr>
        </p:nvSpPr>
        <p:spPr>
          <a:xfrm>
            <a:off x="4997700" y="1697475"/>
            <a:ext cx="13095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Communication &amp; Training:</a:t>
            </a:r>
            <a:endParaRPr/>
          </a:p>
        </p:txBody>
      </p:sp>
      <p:sp>
        <p:nvSpPr>
          <p:cNvPr id="956" name="Google Shape;956;p58"/>
          <p:cNvSpPr txBox="1"/>
          <p:nvPr>
            <p:ph idx="2" type="title"/>
          </p:nvPr>
        </p:nvSpPr>
        <p:spPr>
          <a:xfrm>
            <a:off x="5007538" y="2804475"/>
            <a:ext cx="1383000" cy="6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Roles &amp; Responsibilities:</a:t>
            </a:r>
            <a:endParaRPr/>
          </a:p>
        </p:txBody>
      </p:sp>
      <p:cxnSp>
        <p:nvCxnSpPr>
          <p:cNvPr id="957" name="Google Shape;957;p58"/>
          <p:cNvCxnSpPr/>
          <p:nvPr/>
        </p:nvCxnSpPr>
        <p:spPr>
          <a:xfrm>
            <a:off x="5101075" y="2571750"/>
            <a:ext cx="7734900" cy="0"/>
          </a:xfrm>
          <a:prstGeom prst="straightConnector1">
            <a:avLst/>
          </a:prstGeom>
          <a:noFill/>
          <a:ln cap="flat" cmpd="sng" w="19050">
            <a:solidFill>
              <a:schemeClr val="accent5"/>
            </a:solidFill>
            <a:prstDash val="solid"/>
            <a:round/>
            <a:headEnd len="med" w="med" type="none"/>
            <a:tailEnd len="med" w="med" type="none"/>
          </a:ln>
        </p:spPr>
      </p:cxnSp>
      <p:cxnSp>
        <p:nvCxnSpPr>
          <p:cNvPr id="958" name="Google Shape;958;p58"/>
          <p:cNvCxnSpPr/>
          <p:nvPr/>
        </p:nvCxnSpPr>
        <p:spPr>
          <a:xfrm>
            <a:off x="-2926875" y="2164000"/>
            <a:ext cx="7734900" cy="0"/>
          </a:xfrm>
          <a:prstGeom prst="straightConnector1">
            <a:avLst/>
          </a:prstGeom>
          <a:noFill/>
          <a:ln cap="flat" cmpd="sng" w="19050">
            <a:solidFill>
              <a:schemeClr val="accent5"/>
            </a:solidFill>
            <a:prstDash val="solid"/>
            <a:round/>
            <a:headEnd len="med" w="med" type="none"/>
            <a:tailEnd len="med" w="med" type="none"/>
          </a:ln>
        </p:spPr>
      </p:cxnSp>
      <p:cxnSp>
        <p:nvCxnSpPr>
          <p:cNvPr id="959" name="Google Shape;959;p58"/>
          <p:cNvCxnSpPr/>
          <p:nvPr/>
        </p:nvCxnSpPr>
        <p:spPr>
          <a:xfrm>
            <a:off x="-2737200" y="3782800"/>
            <a:ext cx="7734900" cy="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59"/>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